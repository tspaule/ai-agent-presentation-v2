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88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29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51AD-E0C6-44C1-9194-CA9883CA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98675-CE18-9B9B-95C5-92990581A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0B5DD-8886-0EDA-6813-1FF7A48DC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2A72A-5B92-B1E7-BC8E-32B152F12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13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mithery.ai/skills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0" y="548640"/>
            <a:ext cx="914400" cy="914400"/>
          </a:xfrm>
          <a:prstGeom prst="ellipse">
            <a:avLst/>
          </a:prstGeom>
          <a:solidFill>
            <a:srgbClr val="EC4899"/>
          </a:solidFill>
          <a:ln/>
          <a:effectLst>
            <a:outerShdw blurRad="508000" dist="50800" dir="16200000" algn="bl" rotWithShape="0">
              <a:srgbClr val="EC4899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15968" y="749808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62272" y="89611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4762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WTF Are AI Agents?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Chatbots to Autonomous Workflows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Paule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Visory  |  Chief Digital &amp; AI Officer, Findex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Mander Beer &amp; Learn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We Here?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3657600" cy="29260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73152" cy="29260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prompt. AI answers.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it somewhere.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prompt again.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glue between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process.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657600" cy="29260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73152" cy="29260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920240"/>
            <a:ext cx="32324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goal; give the context.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plans, acts,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iterates, and delivers.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end-to-end.</a:t>
            </a:r>
            <a:endParaRPr lang="en-US" sz="1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direct. It executes.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C4899"/>
                </a:solidFill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Tonight's Agenda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Feedback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581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told us in the survey — and how it shaped tonight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011680"/>
            <a:ext cx="6858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450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WTF are AI Agents? The seven building blocks explained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2880360"/>
            <a:ext cx="6858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Practice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319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— Claude Code, Claude Cowork, and JackalBot in action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54480" y="3749040"/>
            <a:ext cx="6858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— nothing is off limits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of Engagement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keep it fun, but let's keep it productive.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399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6733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encouraged — just raise your hand so we don't have a free-for-all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Beers Are Encouraged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3134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don’t heckle. Remember, you asked for this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2679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Dumb Questions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953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Seriously. If you're thinking it, someone else is too. Ask away.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3319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593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open your laptop and try things in real time.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3959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2336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keep it tight. Demos may run longer if they're good and the group is vibing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Asked, You Answered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responses that shaped tonight's session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Experience Level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beginners in the room — you're all already in the game.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46888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246888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integral to their workflow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554480"/>
            <a:ext cx="246888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Users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3154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 few times a week/month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46888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468880" cy="54864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some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Top Concerns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the things keeping you up at night.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1901952"/>
            <a:ext cx="658368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1901952"/>
            <a:ext cx="3818534" cy="1645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Hallucinations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20240" y="2651760"/>
            <a:ext cx="658368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20240" y="2651760"/>
            <a:ext cx="3291840" cy="1645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054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Where to Start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20240" y="3401568"/>
            <a:ext cx="658368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20240" y="3401568"/>
            <a:ext cx="3291840" cy="1645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920240" y="3803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Subscriptions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920240" y="4151376"/>
            <a:ext cx="658368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0240" y="4151376"/>
            <a:ext cx="2172614" cy="1645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That Should Be Easier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tedious things you told me about — spoiler: agents can help with all of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435608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mentions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1874520"/>
            <a:ext cx="7269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196596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1947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Reporting &amp; Analysis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mentions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17320" y="2404872"/>
            <a:ext cx="7269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2496312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478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Loading (Copy-Paste into AI)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mentions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17320" y="2935224"/>
            <a:ext cx="7269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3008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Monitoring &amp; Touchpoints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mention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17320" y="3465576"/>
            <a:ext cx="7269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" y="3557016"/>
            <a:ext cx="365760" cy="36576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3557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3538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&amp; Scoping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mention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17320" y="3995928"/>
            <a:ext cx="7269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2960" y="4087368"/>
            <a:ext cx="365760" cy="36576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1732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Documentation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580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mention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6636" y="4736591"/>
            <a:ext cx="7863840" cy="41147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6636" y="4736591"/>
            <a:ext cx="54864" cy="411479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6676" y="4736591"/>
            <a:ext cx="7315200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"I've been wanting to learn how to setup an agent so that every Thursday when data is released, I come to work and a report is sitting there for me."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Want From Tonight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36576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PREFERENCE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balanced mix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theory and practice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36576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REQUESTS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AI agents I can use today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setup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environment guidance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tools for their workflow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7863840" cy="146304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Tonight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 is built around what you asked for. Theory to understand the building blocks, then real demos you can take away and try tomorrow.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WTF Are AI Agents?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— explained like you're building a human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Building Blocks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agent — simple or complex — is made of these same components.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0604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060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55448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1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Capabilities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55448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1228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554480" y="310896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554480" y="310896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544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Info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0" y="310896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657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6576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3108960"/>
            <a:ext cx="1828800" cy="12344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60720" y="310896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607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7607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7607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Agent Is Like Building a Human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3832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457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intelligence &amp; reasoning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121408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style, guardrails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05456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2487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expertise &amp; skills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889504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273552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Instructions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knowledge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over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41648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2316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sequencing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6365E-9239-73C4-D269-886374AA8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83A459-6B9A-047B-07FA-0B12D110C14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AD7352-632C-B4E0-CC48-664CF19D4375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9FAD2B-2BA0-D5FF-C8EE-2A75B57D786C}"/>
              </a:ext>
            </a:extLst>
          </p:cNvPr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539563-4785-A43E-770A-FE7196A91C63}"/>
              </a:ext>
            </a:extLst>
          </p:cNvPr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DE9F90-B0C8-48CF-40B8-A98A32C567E9}"/>
              </a:ext>
            </a:extLst>
          </p:cNvPr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Agent Is Like Building a Human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F64DC81-E887-E130-6D63-1B588B5CA06C}"/>
              </a:ext>
            </a:extLst>
          </p:cNvPr>
          <p:cNvSpPr/>
          <p:nvPr/>
        </p:nvSpPr>
        <p:spPr>
          <a:xfrm>
            <a:off x="457200" y="1143000"/>
            <a:ext cx="3931920" cy="33832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DD9E90-4EA0-7F8E-6457-619303FA1AEB}"/>
              </a:ext>
            </a:extLst>
          </p:cNvPr>
          <p:cNvSpPr/>
          <p:nvPr/>
        </p:nvSpPr>
        <p:spPr>
          <a:xfrm>
            <a:off x="457200" y="1143000"/>
            <a:ext cx="3931920" cy="457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6FA0F24-2DA3-1BC8-E9FE-721A0F853A19}"/>
              </a:ext>
            </a:extLst>
          </p:cNvPr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CBC2787-2DEC-98AD-2D7B-B1B9123E1725}"/>
              </a:ext>
            </a:extLst>
          </p:cNvPr>
          <p:cNvSpPr/>
          <p:nvPr/>
        </p:nvSpPr>
        <p:spPr>
          <a:xfrm>
            <a:off x="731520" y="1737360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CF433C-03C1-6CE3-97ED-E946B02F7204}"/>
              </a:ext>
            </a:extLst>
          </p:cNvPr>
          <p:cNvSpPr/>
          <p:nvPr/>
        </p:nvSpPr>
        <p:spPr>
          <a:xfrm>
            <a:off x="96012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6F8DEA0-1A35-64B3-1D14-3846FA38B4AD}"/>
              </a:ext>
            </a:extLst>
          </p:cNvPr>
          <p:cNvSpPr/>
          <p:nvPr/>
        </p:nvSpPr>
        <p:spPr>
          <a:xfrm>
            <a:off x="242316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intelligence &amp; reasoning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1228614-96C0-732D-6E37-2BBE862FA5B0}"/>
              </a:ext>
            </a:extLst>
          </p:cNvPr>
          <p:cNvSpPr/>
          <p:nvPr/>
        </p:nvSpPr>
        <p:spPr>
          <a:xfrm>
            <a:off x="731520" y="2121408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04F866-2273-163F-D5DF-954E0F79E4DC}"/>
              </a:ext>
            </a:extLst>
          </p:cNvPr>
          <p:cNvSpPr/>
          <p:nvPr/>
        </p:nvSpPr>
        <p:spPr>
          <a:xfrm>
            <a:off x="96012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AE6F3A-B694-AF10-1AAD-BE0F65C0F30E}"/>
              </a:ext>
            </a:extLst>
          </p:cNvPr>
          <p:cNvSpPr/>
          <p:nvPr/>
        </p:nvSpPr>
        <p:spPr>
          <a:xfrm>
            <a:off x="24231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style, guardrails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BD1D449-CCBA-6E53-73E9-00B7E04ABDCB}"/>
              </a:ext>
            </a:extLst>
          </p:cNvPr>
          <p:cNvSpPr/>
          <p:nvPr/>
        </p:nvSpPr>
        <p:spPr>
          <a:xfrm>
            <a:off x="731520" y="2505456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588CFF-5F05-D45D-6C6C-5ABA70122BC9}"/>
              </a:ext>
            </a:extLst>
          </p:cNvPr>
          <p:cNvSpPr/>
          <p:nvPr/>
        </p:nvSpPr>
        <p:spPr>
          <a:xfrm>
            <a:off x="960120" y="2487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44F273-C90D-9984-550C-FF6FF7B8D1E4}"/>
              </a:ext>
            </a:extLst>
          </p:cNvPr>
          <p:cNvSpPr/>
          <p:nvPr/>
        </p:nvSpPr>
        <p:spPr>
          <a:xfrm>
            <a:off x="24231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expertise &amp; skills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4A65B38-03E0-65E1-C1CE-1BB8A0DB5970}"/>
              </a:ext>
            </a:extLst>
          </p:cNvPr>
          <p:cNvSpPr/>
          <p:nvPr/>
        </p:nvSpPr>
        <p:spPr>
          <a:xfrm>
            <a:off x="731520" y="2889504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49FE36F-9B6D-6799-035D-CC767A75B87F}"/>
              </a:ext>
            </a:extLst>
          </p:cNvPr>
          <p:cNvSpPr/>
          <p:nvPr/>
        </p:nvSpPr>
        <p:spPr>
          <a:xfrm>
            <a:off x="96012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895420E-511D-3D88-FFF7-AFE45D876CCA}"/>
              </a:ext>
            </a:extLst>
          </p:cNvPr>
          <p:cNvSpPr/>
          <p:nvPr/>
        </p:nvSpPr>
        <p:spPr>
          <a:xfrm>
            <a:off x="242316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interactions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9118397-B546-2A06-D4F9-852C4343C770}"/>
              </a:ext>
            </a:extLst>
          </p:cNvPr>
          <p:cNvSpPr/>
          <p:nvPr/>
        </p:nvSpPr>
        <p:spPr>
          <a:xfrm>
            <a:off x="731520" y="3273552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D98A552-CB45-8F44-41C9-691D06736EF9}"/>
              </a:ext>
            </a:extLst>
          </p:cNvPr>
          <p:cNvSpPr/>
          <p:nvPr/>
        </p:nvSpPr>
        <p:spPr>
          <a:xfrm>
            <a:off x="960120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Instructions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A01605-0187-0BC4-4767-0E509DA0D4EB}"/>
              </a:ext>
            </a:extLst>
          </p:cNvPr>
          <p:cNvSpPr/>
          <p:nvPr/>
        </p:nvSpPr>
        <p:spPr>
          <a:xfrm>
            <a:off x="2423160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knowledge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4F9068F-D490-80A1-2C48-E3B5B614ECBC}"/>
              </a:ext>
            </a:extLst>
          </p:cNvPr>
          <p:cNvSpPr/>
          <p:nvPr/>
        </p:nvSpPr>
        <p:spPr>
          <a:xfrm>
            <a:off x="731520" y="3657600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8660B04-0CB9-DD90-3FB8-AD8EBF2442E9}"/>
              </a:ext>
            </a:extLst>
          </p:cNvPr>
          <p:cNvSpPr/>
          <p:nvPr/>
        </p:nvSpPr>
        <p:spPr>
          <a:xfrm>
            <a:off x="96012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0CD5AE6-7E1E-21B6-1A88-7B400E006D51}"/>
              </a:ext>
            </a:extLst>
          </p:cNvPr>
          <p:cNvSpPr/>
          <p:nvPr/>
        </p:nvSpPr>
        <p:spPr>
          <a:xfrm>
            <a:off x="242316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over time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A643BC1-6244-CC0A-E171-9E9B47C9E36D}"/>
              </a:ext>
            </a:extLst>
          </p:cNvPr>
          <p:cNvSpPr/>
          <p:nvPr/>
        </p:nvSpPr>
        <p:spPr>
          <a:xfrm>
            <a:off x="731520" y="4041648"/>
            <a:ext cx="73152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BEC1857-8F9B-40F7-9D71-0968350F30B8}"/>
              </a:ext>
            </a:extLst>
          </p:cNvPr>
          <p:cNvSpPr/>
          <p:nvPr/>
        </p:nvSpPr>
        <p:spPr>
          <a:xfrm>
            <a:off x="96012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1566F2B-B9DF-774E-B611-C9D4520AB2D8}"/>
              </a:ext>
            </a:extLst>
          </p:cNvPr>
          <p:cNvSpPr/>
          <p:nvPr/>
        </p:nvSpPr>
        <p:spPr>
          <a:xfrm>
            <a:off x="242316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sequencing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8E251B-6A76-84AC-09D5-298A590513BD}"/>
              </a:ext>
            </a:extLst>
          </p:cNvPr>
          <p:cNvSpPr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E29B807-B3DE-C9B9-1EDA-27F3F98B17F4}"/>
              </a:ext>
            </a:extLst>
          </p:cNvPr>
          <p:cNvSpPr/>
          <p:nvPr/>
        </p:nvSpPr>
        <p:spPr>
          <a:xfrm>
            <a:off x="4754880" y="1143000"/>
            <a:ext cx="393192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EE1D041-361C-F55E-543A-F72C5600C2DB}"/>
              </a:ext>
            </a:extLst>
          </p:cNvPr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3FF88FA-8D7F-01F5-30CA-18CD97675909}"/>
              </a:ext>
            </a:extLst>
          </p:cNvPr>
          <p:cNvSpPr/>
          <p:nvPr/>
        </p:nvSpPr>
        <p:spPr>
          <a:xfrm>
            <a:off x="5029200" y="1737360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7FEBF89-71AA-442F-25A0-E54AF45982F4}"/>
              </a:ext>
            </a:extLst>
          </p:cNvPr>
          <p:cNvSpPr/>
          <p:nvPr/>
        </p:nvSpPr>
        <p:spPr>
          <a:xfrm>
            <a:off x="525780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F4F693A-9992-E2BE-ABF4-CBC2988C6A48}"/>
              </a:ext>
            </a:extLst>
          </p:cNvPr>
          <p:cNvSpPr/>
          <p:nvPr/>
        </p:nvSpPr>
        <p:spPr>
          <a:xfrm>
            <a:off x="672084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(Claude, GPT, etc.)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F1995F1-1996-8CFF-4890-519E1BAF8AED}"/>
              </a:ext>
            </a:extLst>
          </p:cNvPr>
          <p:cNvSpPr/>
          <p:nvPr/>
        </p:nvSpPr>
        <p:spPr>
          <a:xfrm>
            <a:off x="5029200" y="2121408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69462DC-5117-514E-A5DB-E5F1BB93E509}"/>
              </a:ext>
            </a:extLst>
          </p:cNvPr>
          <p:cNvSpPr/>
          <p:nvPr/>
        </p:nvSpPr>
        <p:spPr>
          <a:xfrm>
            <a:off x="525780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1D6B692-5197-C2C6-19D3-ADFCE208B479}"/>
              </a:ext>
            </a:extLst>
          </p:cNvPr>
          <p:cNvSpPr/>
          <p:nvPr/>
        </p:nvSpPr>
        <p:spPr>
          <a:xfrm>
            <a:off x="672084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&amp; rules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CDA2FE3-75C1-B3D2-90F0-2900B917C2A8}"/>
              </a:ext>
            </a:extLst>
          </p:cNvPr>
          <p:cNvSpPr/>
          <p:nvPr/>
        </p:nvSpPr>
        <p:spPr>
          <a:xfrm>
            <a:off x="5029200" y="2505456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2C2181B-581A-73FD-47B1-05A4A39A5B98}"/>
              </a:ext>
            </a:extLst>
          </p:cNvPr>
          <p:cNvSpPr/>
          <p:nvPr/>
        </p:nvSpPr>
        <p:spPr>
          <a:xfrm>
            <a:off x="5257800" y="2487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81518FB-AD55-28F7-70A1-0D35BCEF32B4}"/>
              </a:ext>
            </a:extLst>
          </p:cNvPr>
          <p:cNvSpPr/>
          <p:nvPr/>
        </p:nvSpPr>
        <p:spPr>
          <a:xfrm>
            <a:off x="672084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expertise</a:t>
            </a:r>
            <a:endParaRPr lang="en-US" sz="1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1113427-A251-BBBE-6009-3A087BEA99A7}"/>
              </a:ext>
            </a:extLst>
          </p:cNvPr>
          <p:cNvSpPr/>
          <p:nvPr/>
        </p:nvSpPr>
        <p:spPr>
          <a:xfrm>
            <a:off x="5029200" y="2889504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6633DD8-12FE-A750-9DF4-C97F329E944A}"/>
              </a:ext>
            </a:extLst>
          </p:cNvPr>
          <p:cNvSpPr/>
          <p:nvPr/>
        </p:nvSpPr>
        <p:spPr>
          <a:xfrm>
            <a:off x="525780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710CA662-484C-9D03-765E-951B4FFE7244}"/>
              </a:ext>
            </a:extLst>
          </p:cNvPr>
          <p:cNvSpPr/>
          <p:nvPr/>
        </p:nvSpPr>
        <p:spPr>
          <a:xfrm>
            <a:off x="672084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&amp; actions</a:t>
            </a:r>
            <a:endParaRPr lang="en-US" sz="10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34D746E-982C-C8EE-6880-AFF044429729}"/>
              </a:ext>
            </a:extLst>
          </p:cNvPr>
          <p:cNvSpPr/>
          <p:nvPr/>
        </p:nvSpPr>
        <p:spPr>
          <a:xfrm>
            <a:off x="5029200" y="3273552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2AFA345-EF72-86C9-4F28-CB8CB951129E}"/>
              </a:ext>
            </a:extLst>
          </p:cNvPr>
          <p:cNvSpPr/>
          <p:nvPr/>
        </p:nvSpPr>
        <p:spPr>
          <a:xfrm>
            <a:off x="5257800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BBB3ED1-C060-5233-76F9-B8751F3AC78E}"/>
              </a:ext>
            </a:extLst>
          </p:cNvPr>
          <p:cNvSpPr/>
          <p:nvPr/>
        </p:nvSpPr>
        <p:spPr>
          <a:xfrm>
            <a:off x="6720840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data</a:t>
            </a:r>
            <a:endParaRPr lang="en-US" sz="10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74AD8ED-566A-7624-1F07-E1ED83B5E938}"/>
              </a:ext>
            </a:extLst>
          </p:cNvPr>
          <p:cNvSpPr/>
          <p:nvPr/>
        </p:nvSpPr>
        <p:spPr>
          <a:xfrm>
            <a:off x="5029200" y="3657600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06B526E-5B0B-E25A-BA6E-174C9711AD86}"/>
              </a:ext>
            </a:extLst>
          </p:cNvPr>
          <p:cNvSpPr/>
          <p:nvPr/>
        </p:nvSpPr>
        <p:spPr>
          <a:xfrm>
            <a:off x="525780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4CF65F8-E68C-ED1A-42B5-DD4AAFE29FAF}"/>
              </a:ext>
            </a:extLst>
          </p:cNvPr>
          <p:cNvSpPr/>
          <p:nvPr/>
        </p:nvSpPr>
        <p:spPr>
          <a:xfrm>
            <a:off x="672084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persistence</a:t>
            </a:r>
            <a:endParaRPr lang="en-US" sz="1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8CE7020-27CE-720A-6E51-C08025E1ADC2}"/>
              </a:ext>
            </a:extLst>
          </p:cNvPr>
          <p:cNvSpPr/>
          <p:nvPr/>
        </p:nvSpPr>
        <p:spPr>
          <a:xfrm>
            <a:off x="5029200" y="4041648"/>
            <a:ext cx="73152" cy="274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DD2FE2B-C52A-63BA-DD70-DDA3553BDB63}"/>
              </a:ext>
            </a:extLst>
          </p:cNvPr>
          <p:cNvSpPr/>
          <p:nvPr/>
        </p:nvSpPr>
        <p:spPr>
          <a:xfrm>
            <a:off x="525780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6B9AEFC8-37A6-A901-16CE-390F032292BC}"/>
              </a:ext>
            </a:extLst>
          </p:cNvPr>
          <p:cNvSpPr/>
          <p:nvPr/>
        </p:nvSpPr>
        <p:spPr>
          <a:xfrm>
            <a:off x="672084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0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6CA0514-DB50-785D-0658-4D81D8D97C05}"/>
              </a:ext>
            </a:extLst>
          </p:cNvPr>
          <p:cNvSpPr/>
          <p:nvPr/>
        </p:nvSpPr>
        <p:spPr>
          <a:xfrm>
            <a:off x="4297680" y="1737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8671F2E-B467-6AD4-BC60-477A73EB9A61}"/>
              </a:ext>
            </a:extLst>
          </p:cNvPr>
          <p:cNvSpPr/>
          <p:nvPr/>
        </p:nvSpPr>
        <p:spPr>
          <a:xfrm>
            <a:off x="4297680" y="21214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DCDE1E9-46D1-6AC3-0BA7-B6D1C49BBE9C}"/>
              </a:ext>
            </a:extLst>
          </p:cNvPr>
          <p:cNvSpPr/>
          <p:nvPr/>
        </p:nvSpPr>
        <p:spPr>
          <a:xfrm>
            <a:off x="4297680" y="25054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26C8263-8869-CB2C-51F2-6E6821C68C75}"/>
              </a:ext>
            </a:extLst>
          </p:cNvPr>
          <p:cNvSpPr/>
          <p:nvPr/>
        </p:nvSpPr>
        <p:spPr>
          <a:xfrm>
            <a:off x="4297680" y="28895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36DFB1C-78C6-6E2E-8618-FEC122CA9A38}"/>
              </a:ext>
            </a:extLst>
          </p:cNvPr>
          <p:cNvSpPr/>
          <p:nvPr/>
        </p:nvSpPr>
        <p:spPr>
          <a:xfrm>
            <a:off x="4297680" y="3273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61E9AA2-CF26-44D1-564B-32782A6BB7AA}"/>
              </a:ext>
            </a:extLst>
          </p:cNvPr>
          <p:cNvSpPr/>
          <p:nvPr/>
        </p:nvSpPr>
        <p:spPr>
          <a:xfrm>
            <a:off x="429768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01879A14-588E-FF3C-6C07-23484CC1382A}"/>
              </a:ext>
            </a:extLst>
          </p:cNvPr>
          <p:cNvSpPr/>
          <p:nvPr/>
        </p:nvSpPr>
        <p:spPr>
          <a:xfrm>
            <a:off x="4297680" y="4041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</a:rPr>
              <a:t>↔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254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Model — The Brain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underlying AI that reasons, generates, and makes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54864" cy="9144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different model that excels at every task. Match the brain to the job.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468880" cy="17373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lifting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financial analysis,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2743200"/>
            <a:ext cx="2468880" cy="17373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118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workhorse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reports,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business tasks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743200"/>
            <a:ext cx="2468880" cy="17373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465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Haiku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cheap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categorization,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Instructions — Identity &amp; Rules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persistent definition of who the agent is — its personality, standards, and guardrails.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863840" cy="22860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SYSTEM PROMPT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financial controller.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precise and conservative.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flag discrepancies over $500.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auto-approve payments above $10,000.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reasoning for every decision."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instructions as the agent's training and professional standards — not just what it can do, but how it should behave.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Skills — Learned Capabilities</a:t>
            </a:r>
            <a:endParaRPr lang="en-US" sz="3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200400" cy="13083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Packaged expertise — not just access, but judgment and process.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0" y="16459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to agents what apps are to phones.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pre-built skills from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online databases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write your own. Each skill bundles knowledge, judgment, and process into a reusable package.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7863840" cy="15544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54864" cy="1554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3017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SKILL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Front-end design skills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1400" dirty="0"/>
              <a:t>Create distinctive, production-grade frontend interfaces with high design quality. Use this skill when the user asks to build web components, pages, or applications. Generates creative, polished code that avoids generic AI aesthetics.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A4E989-3A37-2C1F-E54F-4DFCF330E186}"/>
              </a:ext>
            </a:extLst>
          </p:cNvPr>
          <p:cNvSpPr txBox="1"/>
          <p:nvPr/>
        </p:nvSpPr>
        <p:spPr>
          <a:xfrm>
            <a:off x="548640" y="2519172"/>
            <a:ext cx="3291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Like uploading kung fu to Neo's brain — instant capability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Tools — Actions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</a:rPr>
              <a:t>Read and write API calls for the agent to operate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468880" cy="8229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/ Mozilla / </a:t>
            </a: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691640"/>
            <a:ext cx="2468880" cy="8229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468880" cy="8229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Outlook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2468880" cy="8229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Bank Feed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Xero, MYOB, </a:t>
            </a: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743200"/>
            <a:ext cx="2468880" cy="8229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Document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/ Google docs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743200"/>
            <a:ext cx="2468880" cy="8229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94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Messages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Discord / Text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" y="397764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012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the agent can interact with. Skills determine how and when it uses them.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vs Tools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3657600" cy="45720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657600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36576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6576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something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interact with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657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2258568"/>
            <a:ext cx="3657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2585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judgment &amp; 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2585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actions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25496"/>
            <a:ext cx="36576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825496"/>
            <a:ext cx="36576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8254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escalate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8254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context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392424"/>
            <a:ext cx="3657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3392424"/>
            <a:ext cx="3657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392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expertise packages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392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Discrete, standalone verbs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959352"/>
            <a:ext cx="36576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3959352"/>
            <a:ext cx="36576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39593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“Design an email template"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9593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"Send email"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Context — Task-Specific Info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Dynamic, relevant information for this particular job. Changes every time. Makes work specific, not generic.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"Copying and pasting everything into GPT" — this is context loading, and agents solve 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CONTEXT FOR A BOOKKEEPING AGENT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3749040" cy="5486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chart of accounts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3749040" cy="5486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bank transactions this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3749040" cy="5486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Cash-basis accounting preference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566160"/>
            <a:ext cx="3749040" cy="5486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ends June 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AI is one that already knows your world.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Memory — Persistence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retains and applies across sessions. Turns every interaction from a cold start into a continuation.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657600" cy="18288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657600" cy="457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re-explain preferences each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mistakes repeated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or improvement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657600" cy="18288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36576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2148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familiarity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preferences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mistakes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flags patterns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4864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remembers that a client always miscodes contractor payments to 'office supplies' — so it proactively flags and reclassifies without being told.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r>
              <a:rPr lang="en-US" sz="32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Orchestration — Planning &amp; Sequencing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agent decides what to do, in what order. The difference between a fixed script and dynamic reasoning.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NEW CLIENT ONBOARDING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46304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C489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2011680"/>
            <a:ext cx="146304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9456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chart of accounts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C489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31920" y="2011680"/>
            <a:ext cx="146304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bank feeds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C489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0" y="2011680"/>
            <a:ext cx="146304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categorization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C489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06640" y="2011680"/>
            <a:ext cx="1463040" cy="731520"/>
          </a:xfrm>
          <a:prstGeom prst="rect">
            <a:avLst/>
          </a:prstGeom>
          <a:solidFill>
            <a:srgbClr val="EC489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exceptions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017520"/>
            <a:ext cx="7863840" cy="13716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follows fixed steps regardless of what happens.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orchestrated agent reasons dynamically — if the bank feed fails, it adapts. If documents are missing, it asks. It plans, re-plans, and recovers.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Leap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Chatbots to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457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ERA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glue.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60520" y="2103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C4899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657600" cy="2011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6576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011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Plan → Act → Iterate → Deliver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workflows.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 the loop.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3886200"/>
            <a:ext cx="5486400" cy="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used to jockey the system. Now the system runs itself.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Theory Complete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let's see it in action.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Doing Real 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— from code generation to your own personal JARVIS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 Stack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and Claude Code are now the market leaders for how I work.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417320"/>
            <a:ext cx="438912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anti-ChatGPT. But Claude has pulled ahead for the kind of work I do.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1: Claude Code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of thought, to-dos, and skills in 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Intent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prototype spec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requirements in GitHub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1709928"/>
            <a:ext cx="77724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08960" y="14630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Code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 spec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1709928"/>
            <a:ext cx="77724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03520" y="14630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thought, to-do list,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in real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709928"/>
            <a:ext cx="77724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0" y="14630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Up to Results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 lines of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overnight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26,000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9144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written overnight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didn't write the code.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wrote the intent.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figured out the rest."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Recursive Leap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is building software. Improvements are becoming recursive.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502920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 rot="16200000">
            <a:off x="-205740" y="221742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9424" y="4398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4069080"/>
            <a:ext cx="274320" cy="1371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43584" y="4041648"/>
            <a:ext cx="274320" cy="164592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72768" y="4023360"/>
            <a:ext cx="274320" cy="1828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01952" y="4005072"/>
            <a:ext cx="274320" cy="20116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31136" y="3977640"/>
            <a:ext cx="274320" cy="22860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39696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3931920"/>
            <a:ext cx="274320" cy="2743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89504" y="3858768"/>
            <a:ext cx="274320" cy="347472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98064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3749040"/>
            <a:ext cx="274320" cy="45720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47872" y="3566160"/>
            <a:ext cx="274320" cy="64008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56432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77056" y="3291840"/>
            <a:ext cx="274320" cy="91440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0" y="2926080"/>
            <a:ext cx="274320" cy="12801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0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35424" y="2468880"/>
            <a:ext cx="274320" cy="17373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64608" y="1828800"/>
            <a:ext cx="274320" cy="23774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AGI?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3192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You are here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1463040"/>
            <a:ext cx="256032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0" y="1463040"/>
            <a:ext cx="54864" cy="29260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on the steep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of the J-curve.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moving at a pace I've never seen before, ultimately towards AGI.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474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building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 speed up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curve.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2: Claude Cowork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presentation was built using the technique I'm about to show you.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86384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6276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9385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local folder with all your reference files, data, and brand guidelines. The agent reads everything.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86384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6334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9443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clear instructions — structure, tone, content requirements. The more specific, the better the output.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786384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6393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Run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9502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creates a chain of thought, builds a to-do list, and works through each step autonomously.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08276" y="4352544"/>
            <a:ext cx="4572000" cy="35661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08276" y="437997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941" b="2941"/>
          <a:stretch/>
        </p:blipFill>
        <p:spPr>
          <a:xfrm>
            <a:off x="0" y="41148"/>
            <a:ext cx="91440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3767328"/>
            <a:ext cx="9144000" cy="1376172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7673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3: JackalBot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you had your own JARVIS?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4773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personal AI agent — cloud-hosted, always on, built on the OpenClaw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JackalBot Architecture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solidFill>
            <a:srgbClr val="EC489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JackalBot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LLM  |  OpenClaw Framework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228600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54864" cy="6400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Ocean (Cloud)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local machine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28600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31936" y="1463040"/>
            <a:ext cx="54864" cy="640080"/>
          </a:xfrm>
          <a:prstGeom prst="rect">
            <a:avLst/>
          </a:prstGeom>
          <a:solidFill>
            <a:srgbClr val="586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Interface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comms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1783080"/>
            <a:ext cx="4572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0" y="1783080"/>
            <a:ext cx="4572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246888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2953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2004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read emails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926080"/>
            <a:ext cx="246888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292608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2953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32004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access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926080"/>
            <a:ext cx="246888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292608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53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2004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voice notes with Eleven Labs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657600"/>
            <a:ext cx="246888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" y="365760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3685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3931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0" y="3657600"/>
            <a:ext cx="246888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474720" y="365760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0" y="3685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0" y="3931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recall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657600"/>
            <a:ext cx="246888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09360" y="3657600"/>
            <a:ext cx="54864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92240" y="3685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3931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expertise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JackalBot: Live Demo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note to email — in real time, right now.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8288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16916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Voice Note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voice message in Discord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554480"/>
            <a:ext cx="18288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0604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Transcribes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JackalBot converts speech to 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18288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0" y="16916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tasks, recipients, content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554480"/>
            <a:ext cx="18288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03720" y="1554480"/>
            <a:ext cx="18288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43800" y="16916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room gets the email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"That just happened in real-time. No copy-paste. No switching apps. No human glue."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286000" y="4160520"/>
            <a:ext cx="4572000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86000" y="4160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IN DISCORD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Side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data + more tools = more risk. Security isn't optional.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7490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54864" cy="105156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581912"/>
            <a:ext cx="640080" cy="201168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Skills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892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uploaded malware into online skill databases. If your agent auto-installs skills, you're vulnerable.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37490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54864" cy="105156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1581912"/>
            <a:ext cx="640080" cy="201168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892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 email permissions can send messages as you. Wrong config = reputation damage.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37490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2788920"/>
            <a:ext cx="54864" cy="10515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2862072"/>
            <a:ext cx="640080" cy="201168"/>
          </a:xfrm>
          <a:prstGeom prst="rect">
            <a:avLst/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172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loaded into an agent may be sent to third-party APIs. Know where your data goes.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37490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54864" cy="10515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2862072"/>
            <a:ext cx="640080" cy="201168"/>
          </a:xfrm>
          <a:prstGeom prst="rect">
            <a:avLst/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Actions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172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human-in-the-loop, agents can take irreversible actions. Always scope permissions.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great power comes great responsibility.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274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Mander Beer &amp; Learn  |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Doers to Instructors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65760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36576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EVOLUTION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Talkers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C4899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went from answering questions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executing complex workflows.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65760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65760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C4899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206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from executing tasks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directing AI that executes for us.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7863840" cy="13716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MATTER 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 and intent, increasingly by voice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applications and creative thinking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and oversight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" y="1794509"/>
            <a:ext cx="795528" cy="777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the worst AI will ever be.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only going to get better from here.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3508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2286000" y="3840480"/>
            <a:ext cx="45720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0" y="548640"/>
            <a:ext cx="914400" cy="914400"/>
          </a:xfrm>
          <a:prstGeom prst="ellipse">
            <a:avLst/>
          </a:prstGeom>
          <a:solidFill>
            <a:srgbClr val="EC4899"/>
          </a:solidFill>
          <a:ln/>
          <a:effectLst>
            <a:outerShdw blurRad="508000" dist="50800" dir="16200000" algn="bl" rotWithShape="0">
              <a:srgbClr val="EC4899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15968" y="749808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62272" y="89611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Paule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thomas.paule@visory.com.au|  linkedin.com/in/thomaspaule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from the Inside  |  Substack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48a9eab-75aa-4a5b-9fd7-f39223245c1a}" enabled="0" method="" siteId="{b48a9eab-75aa-4a5b-9fd7-f39223245c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2430</Words>
  <Application>Microsoft Macintosh PowerPoint</Application>
  <PresentationFormat>On-screen Show (16:9)</PresentationFormat>
  <Paragraphs>514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from the Inside — WTF Are AI Agents?</dc:title>
  <dc:subject>PptxGenJS Presentation</dc:subject>
  <dc:creator>Thomas Paule</dc:creator>
  <cp:lastModifiedBy>Thomas Paule</cp:lastModifiedBy>
  <cp:revision>3</cp:revision>
  <dcterms:created xsi:type="dcterms:W3CDTF">2026-02-08T09:16:38Z</dcterms:created>
  <dcterms:modified xsi:type="dcterms:W3CDTF">2026-02-10T04:39:34Z</dcterms:modified>
</cp:coreProperties>
</file>